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Security &amp; Compliance Controls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RBAC enabled in DEV, QA, PROD</a:t>
            </a:r>
          </a:p>
          <a:p>
            <a:r>
              <a:t>Static PHI Masking in DEV &amp; QA</a:t>
            </a:r>
          </a:p>
          <a:p>
            <a:r>
              <a:t>Dynamic Data Masking in PROD</a:t>
            </a:r>
          </a:p>
          <a:p>
            <a:r>
              <a:t>SQL Auditing in DEV &amp; PROD</a:t>
            </a:r>
          </a:p>
          <a:p>
            <a:r>
              <a:t>Daily automated audit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en-US" sz="3100"/>
              <a:t>Before vs After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799" y="2031101"/>
            <a:ext cx="3212238" cy="3511943"/>
          </a:xfrm>
        </p:spPr>
        <p:txBody>
          <a:bodyPr anchor="ctr">
            <a:normAutofit/>
          </a:bodyPr>
          <a:lstStyle/>
          <a:p>
            <a:r>
              <a:rPr lang="en-US" sz="1600"/>
              <a:t>Before: No PHI control, No audit</a:t>
            </a:r>
          </a:p>
          <a:p>
            <a:r>
              <a:rPr lang="en-US" sz="1600"/>
              <a:t>After:   Masked PHI, RBAC, Auditing, Alerts</a:t>
            </a:r>
          </a:p>
          <a:p>
            <a:endParaRPr lang="en-US"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1FC298-CE7B-158C-4E1A-AE523309468E}"/>
              </a:ext>
            </a:extLst>
          </p:cNvPr>
          <p:cNvSpPr txBox="1">
            <a:spLocks/>
          </p:cNvSpPr>
          <p:nvPr/>
        </p:nvSpPr>
        <p:spPr>
          <a:xfrm>
            <a:off x="201561" y="5791200"/>
            <a:ext cx="82296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D33FABA-3DD4-9468-BDDF-DB6225ADC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541086"/>
              </p:ext>
            </p:extLst>
          </p:nvPr>
        </p:nvGraphicFramePr>
        <p:xfrm>
          <a:off x="4490803" y="1551160"/>
          <a:ext cx="4221016" cy="3522813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1032524">
                  <a:extLst>
                    <a:ext uri="{9D8B030D-6E8A-4147-A177-3AD203B41FA5}">
                      <a16:colId xmlns:a16="http://schemas.microsoft.com/office/drawing/2014/main" val="1645423670"/>
                    </a:ext>
                  </a:extLst>
                </a:gridCol>
                <a:gridCol w="1563993">
                  <a:extLst>
                    <a:ext uri="{9D8B030D-6E8A-4147-A177-3AD203B41FA5}">
                      <a16:colId xmlns:a16="http://schemas.microsoft.com/office/drawing/2014/main" val="653544606"/>
                    </a:ext>
                  </a:extLst>
                </a:gridCol>
                <a:gridCol w="1624499">
                  <a:extLst>
                    <a:ext uri="{9D8B030D-6E8A-4147-A177-3AD203B41FA5}">
                      <a16:colId xmlns:a16="http://schemas.microsoft.com/office/drawing/2014/main" val="3213617601"/>
                    </a:ext>
                  </a:extLst>
                </a:gridCol>
              </a:tblGrid>
              <a:tr h="367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Area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Before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Now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019706"/>
                  </a:ext>
                </a:extLst>
              </a:tr>
              <a:tr h="555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PHI in DEV/QA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Real patient data visible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bg1"/>
                          </a:solidFill>
                        </a:rPr>
                        <a:t>Statically masked — no real PHI</a:t>
                      </a:r>
                      <a:endParaRPr lang="en-US" sz="1200" cap="none" spc="0">
                        <a:solidFill>
                          <a:schemeClr val="bg1"/>
                        </a:solidFill>
                      </a:endParaRP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60580"/>
                  </a:ext>
                </a:extLst>
              </a:tr>
              <a:tr h="932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PHI in PROD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Anyone with table access saw full data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bg1"/>
                          </a:solidFill>
                        </a:rPr>
                        <a:t>Dynamically masked for unauthorized users</a:t>
                      </a:r>
                      <a:endParaRPr lang="en-US" sz="1200" cap="none" spc="0">
                        <a:solidFill>
                          <a:schemeClr val="bg1"/>
                        </a:solidFill>
                      </a:endParaRP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439593"/>
                  </a:ext>
                </a:extLst>
              </a:tr>
              <a:tr h="555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Access Control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Basic permissions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bg1"/>
                          </a:solidFill>
                        </a:rPr>
                        <a:t>RBAC enforced</a:t>
                      </a:r>
                      <a:endParaRPr lang="en-US" sz="1200" cap="none" spc="0">
                        <a:solidFill>
                          <a:schemeClr val="bg1"/>
                        </a:solidFill>
                      </a:endParaRP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384769"/>
                  </a:ext>
                </a:extLst>
              </a:tr>
              <a:tr h="555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Monitoring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Manual or none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bg1"/>
                          </a:solidFill>
                        </a:rPr>
                        <a:t>SQL Audit in DEV &amp; PROD</a:t>
                      </a:r>
                      <a:endParaRPr lang="en-US" sz="1200" cap="none" spc="0">
                        <a:solidFill>
                          <a:schemeClr val="bg1"/>
                        </a:solidFill>
                      </a:endParaRP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866086"/>
                  </a:ext>
                </a:extLst>
              </a:tr>
              <a:tr h="555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Reporting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</a:rPr>
                        <a:t>No visibility</a:t>
                      </a: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bg1"/>
                          </a:solidFill>
                        </a:rPr>
                        <a:t>Daily automated security emails</a:t>
                      </a:r>
                      <a:endParaRPr lang="en-US" sz="1200" cap="none" spc="0">
                        <a:solidFill>
                          <a:schemeClr val="bg1"/>
                        </a:solidFill>
                      </a:endParaRPr>
                    </a:p>
                  </a:txBody>
                  <a:tcPr marL="94193" marR="94193" marT="94193" marB="47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9736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C66E-CDF3-2201-1B2D-276D8BD3E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9933-5D0F-460C-A690-F2E58EEB4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7"/>
          </a:xfrm>
        </p:spPr>
        <p:txBody>
          <a:bodyPr>
            <a:normAutofit fontScale="90000"/>
          </a:bodyPr>
          <a:lstStyle/>
          <a:p>
            <a:r>
              <a:rPr dirty="0"/>
              <a:t>Before vs After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7C8DC-F7FF-F8C1-9C36-5F5687638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51271"/>
            <a:ext cx="8229600" cy="4525963"/>
          </a:xfrm>
        </p:spPr>
        <p:txBody>
          <a:bodyPr/>
          <a:lstStyle/>
          <a:p>
            <a:r>
              <a:rPr sz="2800" dirty="0"/>
              <a:t>Before: No PHI control, No audit</a:t>
            </a:r>
          </a:p>
          <a:p>
            <a:r>
              <a:rPr sz="2800" dirty="0"/>
              <a:t>After: </a:t>
            </a:r>
            <a:r>
              <a:rPr lang="en-US" sz="2800" dirty="0"/>
              <a:t>  </a:t>
            </a:r>
            <a:r>
              <a:rPr sz="2800" dirty="0"/>
              <a:t>Masked PHI, RBAC, Auditing, Alerts</a:t>
            </a:r>
            <a:endParaRPr lang="en-US" sz="2800" dirty="0"/>
          </a:p>
          <a:p>
            <a:endParaRPr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BCB095CB-2675-4A0A-3401-CE46DF012469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190352"/>
          <a:ext cx="8229600" cy="3017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64542367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5354460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213617601"/>
                    </a:ext>
                  </a:extLst>
                </a:gridCol>
              </a:tblGrid>
              <a:tr h="351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92D050"/>
                          </a:solidFill>
                        </a:rPr>
                        <a:t>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Now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19706"/>
                  </a:ext>
                </a:extLst>
              </a:tr>
              <a:tr h="61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PHI in DEV/QA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92D050"/>
                          </a:solidFill>
                        </a:rPr>
                        <a:t>Real patient data visible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Statically masked — no real PHI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60580"/>
                  </a:ext>
                </a:extLst>
              </a:tr>
              <a:tr h="61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PHI in PROD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92D050"/>
                          </a:solidFill>
                        </a:rPr>
                        <a:t>Anyone with table access saw full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Dynamically masked for unauthorized users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439593"/>
                  </a:ext>
                </a:extLst>
              </a:tr>
              <a:tr h="351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Access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92D050"/>
                          </a:solidFill>
                        </a:rPr>
                        <a:t>Basic 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</a:rPr>
                        <a:t>RBAC enforced</a:t>
                      </a:r>
                      <a:endParaRPr lang="en-US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384769"/>
                  </a:ext>
                </a:extLst>
              </a:tr>
              <a:tr h="351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92D050"/>
                          </a:solidFill>
                        </a:rPr>
                        <a:t>Manual or 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</a:rPr>
                        <a:t>SQL Audit in DEV &amp; PROD</a:t>
                      </a:r>
                      <a:endParaRPr lang="en-US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866086"/>
                  </a:ext>
                </a:extLst>
              </a:tr>
              <a:tr h="61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Reporting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92D050"/>
                          </a:solidFill>
                        </a:rPr>
                        <a:t>No visibility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Daily automated security emails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973602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D25F5341-7529-B8B3-01FE-8820929E75A1}"/>
              </a:ext>
            </a:extLst>
          </p:cNvPr>
          <p:cNvSpPr txBox="1">
            <a:spLocks/>
          </p:cNvSpPr>
          <p:nvPr/>
        </p:nvSpPr>
        <p:spPr>
          <a:xfrm>
            <a:off x="201561" y="5791200"/>
            <a:ext cx="82296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21F9C81-6FE2-C0FD-B6AA-8C74BE738C38}"/>
              </a:ext>
            </a:extLst>
          </p:cNvPr>
          <p:cNvSpPr txBox="1"/>
          <p:nvPr/>
        </p:nvSpPr>
        <p:spPr>
          <a:xfrm>
            <a:off x="1027470" y="5791200"/>
            <a:ext cx="3288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Failed login attempts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Any table or schema changes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4289DE3-EE67-DD27-375B-0A2DD8378C8C}"/>
              </a:ext>
            </a:extLst>
          </p:cNvPr>
          <p:cNvSpPr txBox="1"/>
          <p:nvPr/>
        </p:nvSpPr>
        <p:spPr>
          <a:xfrm>
            <a:off x="5142270" y="5789276"/>
            <a:ext cx="33675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From which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Failed login attempts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Any table or schema changes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EFFF82D-DF15-58CF-2AF9-D3D580CD8A4E}"/>
              </a:ext>
            </a:extLst>
          </p:cNvPr>
          <p:cNvSpPr txBox="1"/>
          <p:nvPr/>
        </p:nvSpPr>
        <p:spPr>
          <a:xfrm>
            <a:off x="2671915" y="5425657"/>
            <a:ext cx="3367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>
                <a:solidFill>
                  <a:srgbClr val="FF0000"/>
                </a:solidFill>
              </a:rPr>
              <a:t>We Now Detect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718374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074"/>
            <a:ext cx="8229600" cy="629930"/>
          </a:xfrm>
        </p:spPr>
        <p:txBody>
          <a:bodyPr>
            <a:normAutofit fontScale="90000"/>
          </a:bodyPr>
          <a:lstStyle/>
          <a:p>
            <a:r>
              <a:rPr lang="en-US"/>
              <a:t>Business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690" y="741004"/>
            <a:ext cx="8229600" cy="495097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Business Value Delivered</a:t>
            </a:r>
          </a:p>
          <a:p>
            <a:r>
              <a:rPr lang="en-US" b="1" dirty="0"/>
              <a:t>HIPAA-aligned audit trail</a:t>
            </a: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PHI protected in every environment</a:t>
            </a:r>
            <a:endParaRPr lang="en-US" dirty="0"/>
          </a:p>
          <a:p>
            <a:r>
              <a:rPr lang="en-US" b="1" dirty="0"/>
              <a:t>No real PHI exposed to developers or testers</a:t>
            </a: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Executive-level visibility via daily reports</a:t>
            </a:r>
            <a:endParaRPr lang="en-US" dirty="0"/>
          </a:p>
          <a:p>
            <a:r>
              <a:rPr lang="en-US" b="1" dirty="0"/>
              <a:t>Reduced breach &amp; insider-risk exposure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What This Now Enables</a:t>
            </a:r>
          </a:p>
          <a:p>
            <a:r>
              <a:rPr lang="en-US" dirty="0"/>
              <a:t>Secure Power BI &amp; analytics on PHI</a:t>
            </a:r>
          </a:p>
          <a:p>
            <a:r>
              <a:rPr lang="en-US" dirty="0"/>
              <a:t>Controlled data sharing with vendors</a:t>
            </a:r>
          </a:p>
          <a:p>
            <a:r>
              <a:rPr lang="en-US" dirty="0"/>
              <a:t>Compliance readiness for audits</a:t>
            </a:r>
          </a:p>
          <a:p>
            <a:r>
              <a:rPr lang="en-US" dirty="0"/>
              <a:t>Future </a:t>
            </a:r>
            <a:r>
              <a:rPr lang="en-US" b="1" dirty="0"/>
              <a:t>Row-Level Security (RLS)</a:t>
            </a:r>
            <a:r>
              <a:rPr lang="en-US" dirty="0"/>
              <a:t> rollout on top of RBAC &amp; masking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278</Words>
  <Application>Microsoft Office PowerPoint</Application>
  <PresentationFormat>Affichage à l'écran (4:3)</PresentationFormat>
  <Paragraphs>67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Security &amp; Compliance Controls Implemented</vt:lpstr>
      <vt:lpstr>Before vs After</vt:lpstr>
      <vt:lpstr>Before vs After</vt:lpstr>
      <vt:lpstr>Business Value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serge tchuenteu</dc:creator>
  <cp:keywords/>
  <dc:description>generated using python-pptx</dc:description>
  <cp:lastModifiedBy>serge tchuenteu</cp:lastModifiedBy>
  <cp:revision>2</cp:revision>
  <dcterms:created xsi:type="dcterms:W3CDTF">2013-01-27T09:14:16Z</dcterms:created>
  <dcterms:modified xsi:type="dcterms:W3CDTF">2026-01-13T20:56:11Z</dcterms:modified>
  <cp:category/>
</cp:coreProperties>
</file>