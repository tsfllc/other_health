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60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14E0A24-8A6E-43FD-B07A-CB9F6C682041}" v="2" dt="2025-11-21T18:25:02.4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63559" autoAdjust="0"/>
  </p:normalViewPr>
  <p:slideViewPr>
    <p:cSldViewPr snapToGrid="0" snapToObjects="1">
      <p:cViewPr varScale="1">
        <p:scale>
          <a:sx n="55" d="100"/>
          <a:sy n="55" d="100"/>
        </p:scale>
        <p:origin x="78" y="34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rge tchuenteu" userId="8300444c1fcdfdd4" providerId="LiveId" clId="{7F35B771-F38F-4425-B485-FB3255619134}"/>
    <pc:docChg chg="custSel addSld modSld">
      <pc:chgData name="serge tchuenteu" userId="8300444c1fcdfdd4" providerId="LiveId" clId="{7F35B771-F38F-4425-B485-FB3255619134}" dt="2025-11-21T18:25:14.769" v="5" actId="26606"/>
      <pc:docMkLst>
        <pc:docMk/>
      </pc:docMkLst>
      <pc:sldChg chg="addSp delSp modSp mod">
        <pc:chgData name="serge tchuenteu" userId="8300444c1fcdfdd4" providerId="LiveId" clId="{7F35B771-F38F-4425-B485-FB3255619134}" dt="2025-11-21T18:22:53.073" v="0" actId="26606"/>
        <pc:sldMkLst>
          <pc:docMk/>
          <pc:sldMk cId="0" sldId="256"/>
        </pc:sldMkLst>
        <pc:spChg chg="mod">
          <ac:chgData name="serge tchuenteu" userId="8300444c1fcdfdd4" providerId="LiveId" clId="{7F35B771-F38F-4425-B485-FB3255619134}" dt="2025-11-21T18:22:53.073" v="0" actId="26606"/>
          <ac:spMkLst>
            <pc:docMk/>
            <pc:sldMk cId="0" sldId="256"/>
            <ac:spMk id="2" creationId="{00000000-0000-0000-0000-000000000000}"/>
          </ac:spMkLst>
        </pc:spChg>
        <pc:spChg chg="del">
          <ac:chgData name="serge tchuenteu" userId="8300444c1fcdfdd4" providerId="LiveId" clId="{7F35B771-F38F-4425-B485-FB3255619134}" dt="2025-11-21T18:22:53.073" v="0" actId="26606"/>
          <ac:spMkLst>
            <pc:docMk/>
            <pc:sldMk cId="0" sldId="256"/>
            <ac:spMk id="21" creationId="{C7D023E4-8DE1-436E-9847-ED6A4B4B04FD}"/>
          </ac:spMkLst>
        </pc:spChg>
        <pc:spChg chg="add">
          <ac:chgData name="serge tchuenteu" userId="8300444c1fcdfdd4" providerId="LiveId" clId="{7F35B771-F38F-4425-B485-FB3255619134}" dt="2025-11-21T18:22:53.073" v="0" actId="26606"/>
          <ac:spMkLst>
            <pc:docMk/>
            <pc:sldMk cId="0" sldId="256"/>
            <ac:spMk id="31" creationId="{6F5A5072-7B47-4D32-B52A-4EBBF590B8A5}"/>
          </ac:spMkLst>
        </pc:spChg>
        <pc:spChg chg="add">
          <ac:chgData name="serge tchuenteu" userId="8300444c1fcdfdd4" providerId="LiveId" clId="{7F35B771-F38F-4425-B485-FB3255619134}" dt="2025-11-21T18:22:53.073" v="0" actId="26606"/>
          <ac:spMkLst>
            <pc:docMk/>
            <pc:sldMk cId="0" sldId="256"/>
            <ac:spMk id="33" creationId="{9715DAF0-AE1B-46C9-8A6B-DB2AA05AB91D}"/>
          </ac:spMkLst>
        </pc:spChg>
        <pc:spChg chg="add">
          <ac:chgData name="serge tchuenteu" userId="8300444c1fcdfdd4" providerId="LiveId" clId="{7F35B771-F38F-4425-B485-FB3255619134}" dt="2025-11-21T18:22:53.073" v="0" actId="26606"/>
          <ac:spMkLst>
            <pc:docMk/>
            <pc:sldMk cId="0" sldId="256"/>
            <ac:spMk id="35" creationId="{6016219D-510E-4184-9090-6D5578A87BD1}"/>
          </ac:spMkLst>
        </pc:spChg>
        <pc:spChg chg="add">
          <ac:chgData name="serge tchuenteu" userId="8300444c1fcdfdd4" providerId="LiveId" clId="{7F35B771-F38F-4425-B485-FB3255619134}" dt="2025-11-21T18:22:53.073" v="0" actId="26606"/>
          <ac:spMkLst>
            <pc:docMk/>
            <pc:sldMk cId="0" sldId="256"/>
            <ac:spMk id="37" creationId="{AFF4A713-7B75-4B21-90D7-5AB19547C728}"/>
          </ac:spMkLst>
        </pc:spChg>
        <pc:spChg chg="add">
          <ac:chgData name="serge tchuenteu" userId="8300444c1fcdfdd4" providerId="LiveId" clId="{7F35B771-F38F-4425-B485-FB3255619134}" dt="2025-11-21T18:22:53.073" v="0" actId="26606"/>
          <ac:spMkLst>
            <pc:docMk/>
            <pc:sldMk cId="0" sldId="256"/>
            <ac:spMk id="39" creationId="{DC631C0B-6DA6-4E57-8231-CE32B3434A7E}"/>
          </ac:spMkLst>
        </pc:spChg>
        <pc:spChg chg="add">
          <ac:chgData name="serge tchuenteu" userId="8300444c1fcdfdd4" providerId="LiveId" clId="{7F35B771-F38F-4425-B485-FB3255619134}" dt="2025-11-21T18:22:53.073" v="0" actId="26606"/>
          <ac:spMkLst>
            <pc:docMk/>
            <pc:sldMk cId="0" sldId="256"/>
            <ac:spMk id="41" creationId="{C29501E6-A978-4A61-9689-9085AF97A53A}"/>
          </ac:spMkLst>
        </pc:spChg>
        <pc:grpChg chg="del">
          <ac:chgData name="serge tchuenteu" userId="8300444c1fcdfdd4" providerId="LiveId" clId="{7F35B771-F38F-4425-B485-FB3255619134}" dt="2025-11-21T18:22:53.073" v="0" actId="26606"/>
          <ac:grpSpMkLst>
            <pc:docMk/>
            <pc:sldMk cId="0" sldId="256"/>
            <ac:grpSpMk id="22" creationId="{1FEC590B-3306-47E9-BD67-97F3F76169A4}"/>
          </ac:grpSpMkLst>
        </pc:grpChg>
        <pc:grpChg chg="del">
          <ac:chgData name="serge tchuenteu" userId="8300444c1fcdfdd4" providerId="LiveId" clId="{7F35B771-F38F-4425-B485-FB3255619134}" dt="2025-11-21T18:22:53.073" v="0" actId="26606"/>
          <ac:grpSpMkLst>
            <pc:docMk/>
            <pc:sldMk cId="0" sldId="256"/>
            <ac:grpSpMk id="24" creationId="{A47AAF5E-1692-48C9-98FB-6432BF0BC4F7}"/>
          </ac:grpSpMkLst>
        </pc:grpChg>
      </pc:sldChg>
      <pc:sldChg chg="addSp delSp modSp new mod">
        <pc:chgData name="serge tchuenteu" userId="8300444c1fcdfdd4" providerId="LiveId" clId="{7F35B771-F38F-4425-B485-FB3255619134}" dt="2025-11-21T18:25:14.769" v="5" actId="26606"/>
        <pc:sldMkLst>
          <pc:docMk/>
          <pc:sldMk cId="1122434423" sldId="260"/>
        </pc:sldMkLst>
        <pc:spChg chg="del">
          <ac:chgData name="serge tchuenteu" userId="8300444c1fcdfdd4" providerId="LiveId" clId="{7F35B771-F38F-4425-B485-FB3255619134}" dt="2025-11-21T18:24:54.677" v="3"/>
          <ac:spMkLst>
            <pc:docMk/>
            <pc:sldMk cId="1122434423" sldId="260"/>
            <ac:spMk id="2" creationId="{B8A98CB9-FBB2-3073-F312-C32B73DC3E64}"/>
          </ac:spMkLst>
        </pc:spChg>
        <pc:spChg chg="del">
          <ac:chgData name="serge tchuenteu" userId="8300444c1fcdfdd4" providerId="LiveId" clId="{7F35B771-F38F-4425-B485-FB3255619134}" dt="2025-11-21T18:24:52.139" v="2" actId="478"/>
          <ac:spMkLst>
            <pc:docMk/>
            <pc:sldMk cId="1122434423" sldId="260"/>
            <ac:spMk id="3" creationId="{29DA18F1-88E9-6326-D94D-165FED45FD9A}"/>
          </ac:spMkLst>
        </pc:spChg>
        <pc:spChg chg="add mod">
          <ac:chgData name="serge tchuenteu" userId="8300444c1fcdfdd4" providerId="LiveId" clId="{7F35B771-F38F-4425-B485-FB3255619134}" dt="2025-11-21T18:24:54.677" v="3"/>
          <ac:spMkLst>
            <pc:docMk/>
            <pc:sldMk cId="1122434423" sldId="260"/>
            <ac:spMk id="4" creationId="{D935FB06-C946-ABF1-F4C5-507D6E7EE7A1}"/>
          </ac:spMkLst>
        </pc:spChg>
        <pc:spChg chg="add del mod">
          <ac:chgData name="serge tchuenteu" userId="8300444c1fcdfdd4" providerId="LiveId" clId="{7F35B771-F38F-4425-B485-FB3255619134}" dt="2025-11-21T18:25:14.769" v="5" actId="26606"/>
          <ac:spMkLst>
            <pc:docMk/>
            <pc:sldMk cId="1122434423" sldId="260"/>
            <ac:spMk id="5" creationId="{180C16BD-A669-8EA0-6236-25FAB8313A1A}"/>
          </ac:spMkLst>
        </pc:spChg>
        <pc:graphicFrameChg chg="add">
          <ac:chgData name="serge tchuenteu" userId="8300444c1fcdfdd4" providerId="LiveId" clId="{7F35B771-F38F-4425-B485-FB3255619134}" dt="2025-11-21T18:25:14.769" v="5" actId="26606"/>
          <ac:graphicFrameMkLst>
            <pc:docMk/>
            <pc:sldMk cId="1122434423" sldId="260"/>
            <ac:graphicFrameMk id="7" creationId="{A1CC516B-775B-A594-FE4E-6AFBF123782A}"/>
          </ac:graphicFrameMkLst>
        </pc:graphicFrame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CF0C194-DC62-4A3D-B117-F688BD24E32F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4309466F-F450-497B-AFFE-B1E2CDCA3D59}">
      <dgm:prSet/>
      <dgm:spPr/>
      <dgm:t>
        <a:bodyPr/>
        <a:lstStyle/>
        <a:p>
          <a:r>
            <a:rPr lang="en-US"/>
            <a:t>Tokenization schema locked down with DENY to PUBLIC</a:t>
          </a:r>
        </a:p>
      </dgm:t>
    </dgm:pt>
    <dgm:pt modelId="{97BDC6DA-CF67-48B9-AA23-312917BDF804}" type="parTrans" cxnId="{F3C49D7C-4D99-47C0-A6FD-3C3E6AAD47D7}">
      <dgm:prSet/>
      <dgm:spPr/>
      <dgm:t>
        <a:bodyPr/>
        <a:lstStyle/>
        <a:p>
          <a:endParaRPr lang="en-US"/>
        </a:p>
      </dgm:t>
    </dgm:pt>
    <dgm:pt modelId="{DF5E3966-6550-47BC-8DA3-AF28754BDECD}" type="sibTrans" cxnId="{F3C49D7C-4D99-47C0-A6FD-3C3E6AAD47D7}">
      <dgm:prSet/>
      <dgm:spPr/>
      <dgm:t>
        <a:bodyPr/>
        <a:lstStyle/>
        <a:p>
          <a:endParaRPr lang="en-US"/>
        </a:p>
      </dgm:t>
    </dgm:pt>
    <dgm:pt modelId="{AC65B2CB-2A1F-455D-AEC7-8D39355C48CF}">
      <dgm:prSet/>
      <dgm:spPr/>
      <dgm:t>
        <a:bodyPr/>
        <a:lstStyle/>
        <a:p>
          <a:r>
            <a:rPr lang="en-US"/>
            <a:t>Only TokenizationAdmin role has access to mapping table</a:t>
          </a:r>
        </a:p>
      </dgm:t>
    </dgm:pt>
    <dgm:pt modelId="{488B3157-02CA-480C-9756-0BDBAC82D7A4}" type="parTrans" cxnId="{429B6C32-CCF0-471B-BF93-F7C91743CCCF}">
      <dgm:prSet/>
      <dgm:spPr/>
      <dgm:t>
        <a:bodyPr/>
        <a:lstStyle/>
        <a:p>
          <a:endParaRPr lang="en-US"/>
        </a:p>
      </dgm:t>
    </dgm:pt>
    <dgm:pt modelId="{C83C6D09-865A-43EB-B27A-EA01E236D2EE}" type="sibTrans" cxnId="{429B6C32-CCF0-471B-BF93-F7C91743CCCF}">
      <dgm:prSet/>
      <dgm:spPr/>
      <dgm:t>
        <a:bodyPr/>
        <a:lstStyle/>
        <a:p>
          <a:endParaRPr lang="en-US"/>
        </a:p>
      </dgm:t>
    </dgm:pt>
    <dgm:pt modelId="{EC025DB1-28B2-4F18-B5E0-9AB850374D29}">
      <dgm:prSet/>
      <dgm:spPr/>
      <dgm:t>
        <a:bodyPr/>
        <a:lstStyle/>
        <a:p>
          <a:r>
            <a:rPr lang="en-US"/>
            <a:t>Non-admins restricted to EXECUTE-only on procedures</a:t>
          </a:r>
        </a:p>
      </dgm:t>
    </dgm:pt>
    <dgm:pt modelId="{92FB2370-82BD-4F0D-82CA-29BE4F100807}" type="parTrans" cxnId="{578AAB2B-B9F1-4EFF-ADEE-7A5CA9FE6DF1}">
      <dgm:prSet/>
      <dgm:spPr/>
      <dgm:t>
        <a:bodyPr/>
        <a:lstStyle/>
        <a:p>
          <a:endParaRPr lang="en-US"/>
        </a:p>
      </dgm:t>
    </dgm:pt>
    <dgm:pt modelId="{0D3C01FD-E88D-4FC0-AF25-66FC3EDDC998}" type="sibTrans" cxnId="{578AAB2B-B9F1-4EFF-ADEE-7A5CA9FE6DF1}">
      <dgm:prSet/>
      <dgm:spPr/>
      <dgm:t>
        <a:bodyPr/>
        <a:lstStyle/>
        <a:p>
          <a:endParaRPr lang="en-US"/>
        </a:p>
      </dgm:t>
    </dgm:pt>
    <dgm:pt modelId="{FD245348-AF1B-4861-AB0F-FC4C549F0292}">
      <dgm:prSet/>
      <dgm:spPr/>
      <dgm:t>
        <a:bodyPr/>
        <a:lstStyle/>
        <a:p>
          <a:r>
            <a:rPr lang="en-US"/>
            <a:t>Developers/testers see no PII at any time</a:t>
          </a:r>
        </a:p>
      </dgm:t>
    </dgm:pt>
    <dgm:pt modelId="{F1452504-1A70-478E-8326-5B8D30A6C82A}" type="parTrans" cxnId="{DA6A677D-62A6-4C30-8EC0-C7EC83C57D46}">
      <dgm:prSet/>
      <dgm:spPr/>
      <dgm:t>
        <a:bodyPr/>
        <a:lstStyle/>
        <a:p>
          <a:endParaRPr lang="en-US"/>
        </a:p>
      </dgm:t>
    </dgm:pt>
    <dgm:pt modelId="{00803BD5-C81D-4B71-ABD8-E8158452C91D}" type="sibTrans" cxnId="{DA6A677D-62A6-4C30-8EC0-C7EC83C57D46}">
      <dgm:prSet/>
      <dgm:spPr/>
      <dgm:t>
        <a:bodyPr/>
        <a:lstStyle/>
        <a:p>
          <a:endParaRPr lang="en-US"/>
        </a:p>
      </dgm:t>
    </dgm:pt>
    <dgm:pt modelId="{54455C30-BC55-4884-9EA6-DAEA2B2754F3}">
      <dgm:prSet/>
      <dgm:spPr/>
      <dgm:t>
        <a:bodyPr/>
        <a:lstStyle/>
        <a:p>
          <a:r>
            <a:rPr lang="en-US"/>
            <a:t>HIPAA/HITRUST-aligned approach</a:t>
          </a:r>
        </a:p>
      </dgm:t>
    </dgm:pt>
    <dgm:pt modelId="{19FD2DA5-8F24-499C-B95E-940CA21D768D}" type="parTrans" cxnId="{DCAECCA6-DAB7-4196-938C-0E95F3E08FAB}">
      <dgm:prSet/>
      <dgm:spPr/>
      <dgm:t>
        <a:bodyPr/>
        <a:lstStyle/>
        <a:p>
          <a:endParaRPr lang="en-US"/>
        </a:p>
      </dgm:t>
    </dgm:pt>
    <dgm:pt modelId="{AC1CFFA1-DAE6-4B88-ACA3-74FB24B9956B}" type="sibTrans" cxnId="{DCAECCA6-DAB7-4196-938C-0E95F3E08FAB}">
      <dgm:prSet/>
      <dgm:spPr/>
      <dgm:t>
        <a:bodyPr/>
        <a:lstStyle/>
        <a:p>
          <a:endParaRPr lang="en-US"/>
        </a:p>
      </dgm:t>
    </dgm:pt>
    <dgm:pt modelId="{D4354206-CF60-479A-BB3E-4E9C6F33A505}" type="pres">
      <dgm:prSet presAssocID="{ACF0C194-DC62-4A3D-B117-F688BD24E32F}" presName="vert0" presStyleCnt="0">
        <dgm:presLayoutVars>
          <dgm:dir/>
          <dgm:animOne val="branch"/>
          <dgm:animLvl val="lvl"/>
        </dgm:presLayoutVars>
      </dgm:prSet>
      <dgm:spPr/>
    </dgm:pt>
    <dgm:pt modelId="{D4AC7E87-8544-4061-ADED-45E2CD88E52A}" type="pres">
      <dgm:prSet presAssocID="{4309466F-F450-497B-AFFE-B1E2CDCA3D59}" presName="thickLine" presStyleLbl="alignNode1" presStyleIdx="0" presStyleCnt="5"/>
      <dgm:spPr/>
    </dgm:pt>
    <dgm:pt modelId="{CEB410C1-E60D-405F-82F6-9E160867E155}" type="pres">
      <dgm:prSet presAssocID="{4309466F-F450-497B-AFFE-B1E2CDCA3D59}" presName="horz1" presStyleCnt="0"/>
      <dgm:spPr/>
    </dgm:pt>
    <dgm:pt modelId="{70B8654D-B2DA-421D-B115-CC0AE89DE722}" type="pres">
      <dgm:prSet presAssocID="{4309466F-F450-497B-AFFE-B1E2CDCA3D59}" presName="tx1" presStyleLbl="revTx" presStyleIdx="0" presStyleCnt="5"/>
      <dgm:spPr/>
    </dgm:pt>
    <dgm:pt modelId="{3626865C-C2D4-40B8-908D-8EFBC2AA7634}" type="pres">
      <dgm:prSet presAssocID="{4309466F-F450-497B-AFFE-B1E2CDCA3D59}" presName="vert1" presStyleCnt="0"/>
      <dgm:spPr/>
    </dgm:pt>
    <dgm:pt modelId="{770945D4-C540-4184-95F0-4B22D1A54662}" type="pres">
      <dgm:prSet presAssocID="{AC65B2CB-2A1F-455D-AEC7-8D39355C48CF}" presName="thickLine" presStyleLbl="alignNode1" presStyleIdx="1" presStyleCnt="5"/>
      <dgm:spPr/>
    </dgm:pt>
    <dgm:pt modelId="{C3CCFB59-BD09-4C12-86FF-8D59D72C3FB9}" type="pres">
      <dgm:prSet presAssocID="{AC65B2CB-2A1F-455D-AEC7-8D39355C48CF}" presName="horz1" presStyleCnt="0"/>
      <dgm:spPr/>
    </dgm:pt>
    <dgm:pt modelId="{187FB25F-9C5E-49C4-B23F-B548429BDAB9}" type="pres">
      <dgm:prSet presAssocID="{AC65B2CB-2A1F-455D-AEC7-8D39355C48CF}" presName="tx1" presStyleLbl="revTx" presStyleIdx="1" presStyleCnt="5"/>
      <dgm:spPr/>
    </dgm:pt>
    <dgm:pt modelId="{4912EEC8-2E15-4633-BE9E-9E6151C49579}" type="pres">
      <dgm:prSet presAssocID="{AC65B2CB-2A1F-455D-AEC7-8D39355C48CF}" presName="vert1" presStyleCnt="0"/>
      <dgm:spPr/>
    </dgm:pt>
    <dgm:pt modelId="{58286FCD-C645-40D2-9DAD-737D73B11D57}" type="pres">
      <dgm:prSet presAssocID="{EC025DB1-28B2-4F18-B5E0-9AB850374D29}" presName="thickLine" presStyleLbl="alignNode1" presStyleIdx="2" presStyleCnt="5"/>
      <dgm:spPr/>
    </dgm:pt>
    <dgm:pt modelId="{EA2B763F-7215-49A9-97D8-2A7CAD41D772}" type="pres">
      <dgm:prSet presAssocID="{EC025DB1-28B2-4F18-B5E0-9AB850374D29}" presName="horz1" presStyleCnt="0"/>
      <dgm:spPr/>
    </dgm:pt>
    <dgm:pt modelId="{81FDC326-BF13-437E-A428-639BABDC9E05}" type="pres">
      <dgm:prSet presAssocID="{EC025DB1-28B2-4F18-B5E0-9AB850374D29}" presName="tx1" presStyleLbl="revTx" presStyleIdx="2" presStyleCnt="5"/>
      <dgm:spPr/>
    </dgm:pt>
    <dgm:pt modelId="{53C626F5-3840-40DA-9CDC-A6CAEDD835EC}" type="pres">
      <dgm:prSet presAssocID="{EC025DB1-28B2-4F18-B5E0-9AB850374D29}" presName="vert1" presStyleCnt="0"/>
      <dgm:spPr/>
    </dgm:pt>
    <dgm:pt modelId="{BF14076A-3E20-45DC-AD20-C1DFE8ADAE53}" type="pres">
      <dgm:prSet presAssocID="{FD245348-AF1B-4861-AB0F-FC4C549F0292}" presName="thickLine" presStyleLbl="alignNode1" presStyleIdx="3" presStyleCnt="5"/>
      <dgm:spPr/>
    </dgm:pt>
    <dgm:pt modelId="{2DB15846-EB1A-4E34-8A1C-265D9B127321}" type="pres">
      <dgm:prSet presAssocID="{FD245348-AF1B-4861-AB0F-FC4C549F0292}" presName="horz1" presStyleCnt="0"/>
      <dgm:spPr/>
    </dgm:pt>
    <dgm:pt modelId="{3C1F634A-226E-4E5C-9D40-E7F63D744409}" type="pres">
      <dgm:prSet presAssocID="{FD245348-AF1B-4861-AB0F-FC4C549F0292}" presName="tx1" presStyleLbl="revTx" presStyleIdx="3" presStyleCnt="5"/>
      <dgm:spPr/>
    </dgm:pt>
    <dgm:pt modelId="{55138D48-F780-437D-9814-7CE280B54311}" type="pres">
      <dgm:prSet presAssocID="{FD245348-AF1B-4861-AB0F-FC4C549F0292}" presName="vert1" presStyleCnt="0"/>
      <dgm:spPr/>
    </dgm:pt>
    <dgm:pt modelId="{26066253-204A-4CE5-A831-6B3F1536D265}" type="pres">
      <dgm:prSet presAssocID="{54455C30-BC55-4884-9EA6-DAEA2B2754F3}" presName="thickLine" presStyleLbl="alignNode1" presStyleIdx="4" presStyleCnt="5"/>
      <dgm:spPr/>
    </dgm:pt>
    <dgm:pt modelId="{575232B9-763F-4714-8D68-E5409B3BA457}" type="pres">
      <dgm:prSet presAssocID="{54455C30-BC55-4884-9EA6-DAEA2B2754F3}" presName="horz1" presStyleCnt="0"/>
      <dgm:spPr/>
    </dgm:pt>
    <dgm:pt modelId="{489FEF01-98BC-4085-926D-9FB4D4BF8467}" type="pres">
      <dgm:prSet presAssocID="{54455C30-BC55-4884-9EA6-DAEA2B2754F3}" presName="tx1" presStyleLbl="revTx" presStyleIdx="4" presStyleCnt="5"/>
      <dgm:spPr/>
    </dgm:pt>
    <dgm:pt modelId="{E94FE17A-DBE2-4812-A50B-0321E7BEE83C}" type="pres">
      <dgm:prSet presAssocID="{54455C30-BC55-4884-9EA6-DAEA2B2754F3}" presName="vert1" presStyleCnt="0"/>
      <dgm:spPr/>
    </dgm:pt>
  </dgm:ptLst>
  <dgm:cxnLst>
    <dgm:cxn modelId="{11243222-2F0E-45F7-A229-FD0AF9F08A98}" type="presOf" srcId="{ACF0C194-DC62-4A3D-B117-F688BD24E32F}" destId="{D4354206-CF60-479A-BB3E-4E9C6F33A505}" srcOrd="0" destOrd="0" presId="urn:microsoft.com/office/officeart/2008/layout/LinedList"/>
    <dgm:cxn modelId="{578AAB2B-B9F1-4EFF-ADEE-7A5CA9FE6DF1}" srcId="{ACF0C194-DC62-4A3D-B117-F688BD24E32F}" destId="{EC025DB1-28B2-4F18-B5E0-9AB850374D29}" srcOrd="2" destOrd="0" parTransId="{92FB2370-82BD-4F0D-82CA-29BE4F100807}" sibTransId="{0D3C01FD-E88D-4FC0-AF25-66FC3EDDC998}"/>
    <dgm:cxn modelId="{429B6C32-CCF0-471B-BF93-F7C91743CCCF}" srcId="{ACF0C194-DC62-4A3D-B117-F688BD24E32F}" destId="{AC65B2CB-2A1F-455D-AEC7-8D39355C48CF}" srcOrd="1" destOrd="0" parTransId="{488B3157-02CA-480C-9756-0BDBAC82D7A4}" sibTransId="{C83C6D09-865A-43EB-B27A-EA01E236D2EE}"/>
    <dgm:cxn modelId="{F961394C-AA34-4128-870B-E73E26F36951}" type="presOf" srcId="{4309466F-F450-497B-AFFE-B1E2CDCA3D59}" destId="{70B8654D-B2DA-421D-B115-CC0AE89DE722}" srcOrd="0" destOrd="0" presId="urn:microsoft.com/office/officeart/2008/layout/LinedList"/>
    <dgm:cxn modelId="{2C42B04C-BCDE-435D-B760-F1B3C1D6566A}" type="presOf" srcId="{AC65B2CB-2A1F-455D-AEC7-8D39355C48CF}" destId="{187FB25F-9C5E-49C4-B23F-B548429BDAB9}" srcOrd="0" destOrd="0" presId="urn:microsoft.com/office/officeart/2008/layout/LinedList"/>
    <dgm:cxn modelId="{9A18D452-6FD4-4C67-9B1A-3E04D424A7B3}" type="presOf" srcId="{EC025DB1-28B2-4F18-B5E0-9AB850374D29}" destId="{81FDC326-BF13-437E-A428-639BABDC9E05}" srcOrd="0" destOrd="0" presId="urn:microsoft.com/office/officeart/2008/layout/LinedList"/>
    <dgm:cxn modelId="{F3C49D7C-4D99-47C0-A6FD-3C3E6AAD47D7}" srcId="{ACF0C194-DC62-4A3D-B117-F688BD24E32F}" destId="{4309466F-F450-497B-AFFE-B1E2CDCA3D59}" srcOrd="0" destOrd="0" parTransId="{97BDC6DA-CF67-48B9-AA23-312917BDF804}" sibTransId="{DF5E3966-6550-47BC-8DA3-AF28754BDECD}"/>
    <dgm:cxn modelId="{DA6A677D-62A6-4C30-8EC0-C7EC83C57D46}" srcId="{ACF0C194-DC62-4A3D-B117-F688BD24E32F}" destId="{FD245348-AF1B-4861-AB0F-FC4C549F0292}" srcOrd="3" destOrd="0" parTransId="{F1452504-1A70-478E-8326-5B8D30A6C82A}" sibTransId="{00803BD5-C81D-4B71-ABD8-E8158452C91D}"/>
    <dgm:cxn modelId="{3970E089-1299-4446-82A8-DF3A5FAC5CD1}" type="presOf" srcId="{FD245348-AF1B-4861-AB0F-FC4C549F0292}" destId="{3C1F634A-226E-4E5C-9D40-E7F63D744409}" srcOrd="0" destOrd="0" presId="urn:microsoft.com/office/officeart/2008/layout/LinedList"/>
    <dgm:cxn modelId="{56DC2794-215A-49AE-8542-6C09F124F99B}" type="presOf" srcId="{54455C30-BC55-4884-9EA6-DAEA2B2754F3}" destId="{489FEF01-98BC-4085-926D-9FB4D4BF8467}" srcOrd="0" destOrd="0" presId="urn:microsoft.com/office/officeart/2008/layout/LinedList"/>
    <dgm:cxn modelId="{DCAECCA6-DAB7-4196-938C-0E95F3E08FAB}" srcId="{ACF0C194-DC62-4A3D-B117-F688BD24E32F}" destId="{54455C30-BC55-4884-9EA6-DAEA2B2754F3}" srcOrd="4" destOrd="0" parTransId="{19FD2DA5-8F24-499C-B95E-940CA21D768D}" sibTransId="{AC1CFFA1-DAE6-4B88-ACA3-74FB24B9956B}"/>
    <dgm:cxn modelId="{5302E411-34A1-4CA5-8987-7557B19F8489}" type="presParOf" srcId="{D4354206-CF60-479A-BB3E-4E9C6F33A505}" destId="{D4AC7E87-8544-4061-ADED-45E2CD88E52A}" srcOrd="0" destOrd="0" presId="urn:microsoft.com/office/officeart/2008/layout/LinedList"/>
    <dgm:cxn modelId="{84418725-C393-4B37-B167-3C725D2B2705}" type="presParOf" srcId="{D4354206-CF60-479A-BB3E-4E9C6F33A505}" destId="{CEB410C1-E60D-405F-82F6-9E160867E155}" srcOrd="1" destOrd="0" presId="urn:microsoft.com/office/officeart/2008/layout/LinedList"/>
    <dgm:cxn modelId="{5F672CDF-AAC2-4023-9F87-551CF73357DB}" type="presParOf" srcId="{CEB410C1-E60D-405F-82F6-9E160867E155}" destId="{70B8654D-B2DA-421D-B115-CC0AE89DE722}" srcOrd="0" destOrd="0" presId="urn:microsoft.com/office/officeart/2008/layout/LinedList"/>
    <dgm:cxn modelId="{C6255736-1DE1-4196-9AA0-2841B976A3BE}" type="presParOf" srcId="{CEB410C1-E60D-405F-82F6-9E160867E155}" destId="{3626865C-C2D4-40B8-908D-8EFBC2AA7634}" srcOrd="1" destOrd="0" presId="urn:microsoft.com/office/officeart/2008/layout/LinedList"/>
    <dgm:cxn modelId="{C7DC9CD9-66C0-4231-B6BF-8BD6F77DFF30}" type="presParOf" srcId="{D4354206-CF60-479A-BB3E-4E9C6F33A505}" destId="{770945D4-C540-4184-95F0-4B22D1A54662}" srcOrd="2" destOrd="0" presId="urn:microsoft.com/office/officeart/2008/layout/LinedList"/>
    <dgm:cxn modelId="{7569A96C-5215-4104-892A-924F9B4F5EF4}" type="presParOf" srcId="{D4354206-CF60-479A-BB3E-4E9C6F33A505}" destId="{C3CCFB59-BD09-4C12-86FF-8D59D72C3FB9}" srcOrd="3" destOrd="0" presId="urn:microsoft.com/office/officeart/2008/layout/LinedList"/>
    <dgm:cxn modelId="{78DA6975-BBCF-41FF-BAB6-2133772FDF0B}" type="presParOf" srcId="{C3CCFB59-BD09-4C12-86FF-8D59D72C3FB9}" destId="{187FB25F-9C5E-49C4-B23F-B548429BDAB9}" srcOrd="0" destOrd="0" presId="urn:microsoft.com/office/officeart/2008/layout/LinedList"/>
    <dgm:cxn modelId="{85B70719-E77A-4052-92C3-CC5C4D69587F}" type="presParOf" srcId="{C3CCFB59-BD09-4C12-86FF-8D59D72C3FB9}" destId="{4912EEC8-2E15-4633-BE9E-9E6151C49579}" srcOrd="1" destOrd="0" presId="urn:microsoft.com/office/officeart/2008/layout/LinedList"/>
    <dgm:cxn modelId="{9086FDA2-C9B6-4F85-B270-F35D56CB3A0C}" type="presParOf" srcId="{D4354206-CF60-479A-BB3E-4E9C6F33A505}" destId="{58286FCD-C645-40D2-9DAD-737D73B11D57}" srcOrd="4" destOrd="0" presId="urn:microsoft.com/office/officeart/2008/layout/LinedList"/>
    <dgm:cxn modelId="{007A08F5-F6BA-4522-83FA-5D205EC17724}" type="presParOf" srcId="{D4354206-CF60-479A-BB3E-4E9C6F33A505}" destId="{EA2B763F-7215-49A9-97D8-2A7CAD41D772}" srcOrd="5" destOrd="0" presId="urn:microsoft.com/office/officeart/2008/layout/LinedList"/>
    <dgm:cxn modelId="{0352E7A8-9F7E-411C-A16C-E8FB483659A9}" type="presParOf" srcId="{EA2B763F-7215-49A9-97D8-2A7CAD41D772}" destId="{81FDC326-BF13-437E-A428-639BABDC9E05}" srcOrd="0" destOrd="0" presId="urn:microsoft.com/office/officeart/2008/layout/LinedList"/>
    <dgm:cxn modelId="{BD2B6E32-2E94-49EB-AB25-81028649971D}" type="presParOf" srcId="{EA2B763F-7215-49A9-97D8-2A7CAD41D772}" destId="{53C626F5-3840-40DA-9CDC-A6CAEDD835EC}" srcOrd="1" destOrd="0" presId="urn:microsoft.com/office/officeart/2008/layout/LinedList"/>
    <dgm:cxn modelId="{EBE93548-0E71-4CC2-8C49-A71C79D6D926}" type="presParOf" srcId="{D4354206-CF60-479A-BB3E-4E9C6F33A505}" destId="{BF14076A-3E20-45DC-AD20-C1DFE8ADAE53}" srcOrd="6" destOrd="0" presId="urn:microsoft.com/office/officeart/2008/layout/LinedList"/>
    <dgm:cxn modelId="{746B888F-C4DB-4BD9-8E43-78D5D42436B1}" type="presParOf" srcId="{D4354206-CF60-479A-BB3E-4E9C6F33A505}" destId="{2DB15846-EB1A-4E34-8A1C-265D9B127321}" srcOrd="7" destOrd="0" presId="urn:microsoft.com/office/officeart/2008/layout/LinedList"/>
    <dgm:cxn modelId="{D1783021-16DB-41AA-8DF7-E51834B43C9D}" type="presParOf" srcId="{2DB15846-EB1A-4E34-8A1C-265D9B127321}" destId="{3C1F634A-226E-4E5C-9D40-E7F63D744409}" srcOrd="0" destOrd="0" presId="urn:microsoft.com/office/officeart/2008/layout/LinedList"/>
    <dgm:cxn modelId="{37403D26-B4CD-49CD-9EDF-09D7AB501829}" type="presParOf" srcId="{2DB15846-EB1A-4E34-8A1C-265D9B127321}" destId="{55138D48-F780-437D-9814-7CE280B54311}" srcOrd="1" destOrd="0" presId="urn:microsoft.com/office/officeart/2008/layout/LinedList"/>
    <dgm:cxn modelId="{3ED6AD02-B4E6-4E09-8A2F-E66A109DA763}" type="presParOf" srcId="{D4354206-CF60-479A-BB3E-4E9C6F33A505}" destId="{26066253-204A-4CE5-A831-6B3F1536D265}" srcOrd="8" destOrd="0" presId="urn:microsoft.com/office/officeart/2008/layout/LinedList"/>
    <dgm:cxn modelId="{EC8BC2DA-9D05-4EC3-B35E-C16548BB9945}" type="presParOf" srcId="{D4354206-CF60-479A-BB3E-4E9C6F33A505}" destId="{575232B9-763F-4714-8D68-E5409B3BA457}" srcOrd="9" destOrd="0" presId="urn:microsoft.com/office/officeart/2008/layout/LinedList"/>
    <dgm:cxn modelId="{7A063D08-6F98-474B-883B-91A0D3E5E792}" type="presParOf" srcId="{575232B9-763F-4714-8D68-E5409B3BA457}" destId="{489FEF01-98BC-4085-926D-9FB4D4BF8467}" srcOrd="0" destOrd="0" presId="urn:microsoft.com/office/officeart/2008/layout/LinedList"/>
    <dgm:cxn modelId="{0B8F349A-E31A-4FD8-9B64-FB0F8B6F43A8}" type="presParOf" srcId="{575232B9-763F-4714-8D68-E5409B3BA457}" destId="{E94FE17A-DBE2-4812-A50B-0321E7BEE83C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4AC7E87-8544-4061-ADED-45E2CD88E52A}">
      <dsp:nvSpPr>
        <dsp:cNvPr id="0" name=""/>
        <dsp:cNvSpPr/>
      </dsp:nvSpPr>
      <dsp:spPr>
        <a:xfrm>
          <a:off x="0" y="552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B8654D-B2DA-421D-B115-CC0AE89DE722}">
      <dsp:nvSpPr>
        <dsp:cNvPr id="0" name=""/>
        <dsp:cNvSpPr/>
      </dsp:nvSpPr>
      <dsp:spPr>
        <a:xfrm>
          <a:off x="0" y="552"/>
          <a:ext cx="8229600" cy="9049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Tokenization schema locked down with DENY to PUBLIC</a:t>
          </a:r>
        </a:p>
      </dsp:txBody>
      <dsp:txXfrm>
        <a:off x="0" y="552"/>
        <a:ext cx="8229600" cy="904971"/>
      </dsp:txXfrm>
    </dsp:sp>
    <dsp:sp modelId="{770945D4-C540-4184-95F0-4B22D1A54662}">
      <dsp:nvSpPr>
        <dsp:cNvPr id="0" name=""/>
        <dsp:cNvSpPr/>
      </dsp:nvSpPr>
      <dsp:spPr>
        <a:xfrm>
          <a:off x="0" y="905524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7FB25F-9C5E-49C4-B23F-B548429BDAB9}">
      <dsp:nvSpPr>
        <dsp:cNvPr id="0" name=""/>
        <dsp:cNvSpPr/>
      </dsp:nvSpPr>
      <dsp:spPr>
        <a:xfrm>
          <a:off x="0" y="905524"/>
          <a:ext cx="8229600" cy="9049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Only TokenizationAdmin role has access to mapping table</a:t>
          </a:r>
        </a:p>
      </dsp:txBody>
      <dsp:txXfrm>
        <a:off x="0" y="905524"/>
        <a:ext cx="8229600" cy="904971"/>
      </dsp:txXfrm>
    </dsp:sp>
    <dsp:sp modelId="{58286FCD-C645-40D2-9DAD-737D73B11D57}">
      <dsp:nvSpPr>
        <dsp:cNvPr id="0" name=""/>
        <dsp:cNvSpPr/>
      </dsp:nvSpPr>
      <dsp:spPr>
        <a:xfrm>
          <a:off x="0" y="1810495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FDC326-BF13-437E-A428-639BABDC9E05}">
      <dsp:nvSpPr>
        <dsp:cNvPr id="0" name=""/>
        <dsp:cNvSpPr/>
      </dsp:nvSpPr>
      <dsp:spPr>
        <a:xfrm>
          <a:off x="0" y="1810495"/>
          <a:ext cx="8229600" cy="9049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Non-admins restricted to EXECUTE-only on procedures</a:t>
          </a:r>
        </a:p>
      </dsp:txBody>
      <dsp:txXfrm>
        <a:off x="0" y="1810495"/>
        <a:ext cx="8229600" cy="904971"/>
      </dsp:txXfrm>
    </dsp:sp>
    <dsp:sp modelId="{BF14076A-3E20-45DC-AD20-C1DFE8ADAE53}">
      <dsp:nvSpPr>
        <dsp:cNvPr id="0" name=""/>
        <dsp:cNvSpPr/>
      </dsp:nvSpPr>
      <dsp:spPr>
        <a:xfrm>
          <a:off x="0" y="2715467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1F634A-226E-4E5C-9D40-E7F63D744409}">
      <dsp:nvSpPr>
        <dsp:cNvPr id="0" name=""/>
        <dsp:cNvSpPr/>
      </dsp:nvSpPr>
      <dsp:spPr>
        <a:xfrm>
          <a:off x="0" y="2715467"/>
          <a:ext cx="8229600" cy="9049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Developers/testers see no PII at any time</a:t>
          </a:r>
        </a:p>
      </dsp:txBody>
      <dsp:txXfrm>
        <a:off x="0" y="2715467"/>
        <a:ext cx="8229600" cy="904971"/>
      </dsp:txXfrm>
    </dsp:sp>
    <dsp:sp modelId="{26066253-204A-4CE5-A831-6B3F1536D265}">
      <dsp:nvSpPr>
        <dsp:cNvPr id="0" name=""/>
        <dsp:cNvSpPr/>
      </dsp:nvSpPr>
      <dsp:spPr>
        <a:xfrm>
          <a:off x="0" y="3620438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9FEF01-98BC-4085-926D-9FB4D4BF8467}">
      <dsp:nvSpPr>
        <dsp:cNvPr id="0" name=""/>
        <dsp:cNvSpPr/>
      </dsp:nvSpPr>
      <dsp:spPr>
        <a:xfrm>
          <a:off x="0" y="3620438"/>
          <a:ext cx="8229600" cy="9049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HIPAA/HITRUST-aligned approach</a:t>
          </a:r>
        </a:p>
      </dsp:txBody>
      <dsp:txXfrm>
        <a:off x="0" y="3620438"/>
        <a:ext cx="8229600" cy="90497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474737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Welcome the team. Explain that this presentation introduces the PROD masking and non-PROD tokenization framework. State that slides are intentionally light so all detail is delivered verbally.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PROD must stay true.</a:t>
            </a:r>
            <a:b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Billing, clinical workflows, reporting, and integrations all rely on real, accurate values (SSN, MRN, DOB, emails, etc.). If we physically change them in PROD, we risk breaking business processes.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Dynamic Data Masking is “visual only.”</a:t>
            </a:r>
            <a:b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Masking hides the data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at query time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for non-privileged users, but the real value is still stored and used by the application behind the scenes.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Minimal risk to stability.</a:t>
            </a:r>
            <a:b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We are not rewriting tables or changing values — we are only controlling what is </a:t>
            </a: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displayed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based on permissions. Less chance to break something in production.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2. Why TOKENIZATION in DEV / TEST / QA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Goal: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Make lower environments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safe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by completely removing PII, while keeping data useful.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Non-prod doesn’t need real PII.</a:t>
            </a:r>
            <a:b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But Developers and testers need realistic data patterns (formats, distributions.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Tokens physically replace PII.</a:t>
            </a:r>
            <a:b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Tokenization actually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changes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the values in the Dev/Test/QA databases, so if those environments are copied, sent to a vendor, or exposed, there is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no real PII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to leak.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Format-preserving = good testing.</a:t>
            </a:r>
            <a:b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Our tokens keep the same structure (length, digits, characters), so: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Constraints still work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ETL and app logic still behave correctly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BI models and joins still function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Safer for refreshes.</a:t>
            </a:r>
            <a:b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When we refresh Dev/QA from PROD, we can run tokenization as part of the process so no real PII ever stays in those environments.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dirty="0"/>
              <a:t>PROD uses Dynamic Data Masking because clinical and operational systems require original values. Masking protects sensitive columns at query time but doesn't alter data. </a:t>
            </a:r>
            <a:endParaRPr lang="en-US" dirty="0"/>
          </a:p>
          <a:p>
            <a:endParaRPr lang="en-US" dirty="0"/>
          </a:p>
          <a:p>
            <a:r>
              <a:rPr dirty="0"/>
              <a:t>Non-PROD uses tokenization — values are replaced permanently with deterministic tokens.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</a:t>
            </a:r>
            <a:r>
              <a:rPr dirty="0"/>
              <a:t>okenization provides safe, realistic test data without exposing PII.</a:t>
            </a:r>
            <a:br>
              <a:rPr lang="en-US" dirty="0"/>
            </a:b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Tokens 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keep the same structure (length, digits, characters), so: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Constraints still work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ETL and app logic still behave correctly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BI models and joins still function</a:t>
            </a:r>
          </a:p>
          <a:p>
            <a:br>
              <a:rPr lang="en-US" dirty="0"/>
            </a:b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Detail the technical core of the design:</a:t>
            </a:r>
          </a:p>
          <a:p>
            <a:r>
              <a:rPr dirty="0"/>
              <a:t>1. </a:t>
            </a:r>
            <a:r>
              <a:rPr dirty="0" err="1"/>
              <a:t>fn_FormatPreservingToken</a:t>
            </a:r>
            <a:r>
              <a:rPr dirty="0"/>
              <a:t> — generates deterministic, format-preserving tokens. This function inspects each character digit, letter, or symbol — and produces a token value that keeps the original structure.</a:t>
            </a:r>
          </a:p>
          <a:p>
            <a:endParaRPr dirty="0"/>
          </a:p>
          <a:p>
            <a:r>
              <a:rPr dirty="0"/>
              <a:t>2. </a:t>
            </a:r>
            <a:r>
              <a:rPr dirty="0" err="1"/>
              <a:t>usp_TokenizeColumn_SetBased</a:t>
            </a:r>
            <a:r>
              <a:rPr dirty="0"/>
              <a:t> — the main engine for bulk tokenization. It extracts distinct values, generates tokens, inserts mapping, and updates the target table using a set-based approach. Highly scalable.</a:t>
            </a:r>
          </a:p>
          <a:p>
            <a:endParaRPr dirty="0"/>
          </a:p>
          <a:p>
            <a:r>
              <a:rPr dirty="0"/>
              <a:t>3. </a:t>
            </a:r>
            <a:r>
              <a:rPr dirty="0" err="1"/>
              <a:t>usp_DeTokenizeColumn</a:t>
            </a:r>
            <a:r>
              <a:rPr dirty="0"/>
              <a:t> — accessible only by admins. Uses the mapping table to reverse tokens back to original values if needed for audit or controlled processes.</a:t>
            </a:r>
          </a:p>
          <a:p>
            <a:endParaRPr dirty="0"/>
          </a:p>
          <a:p>
            <a:r>
              <a:rPr dirty="0"/>
              <a:t>Highlight that these objects ensure determinism, reversibility, and performance.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-22693"/>
            <a:ext cx="9143998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384720" y="-2407841"/>
            <a:ext cx="4374557" cy="9144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55756" y="-2236808"/>
            <a:ext cx="4374128" cy="880235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-22690"/>
            <a:ext cx="6406863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4459073" y="-1032053"/>
            <a:ext cx="3742610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86118" y="735106"/>
            <a:ext cx="7540322" cy="2928470"/>
          </a:xfrm>
        </p:spPr>
        <p:txBody>
          <a:bodyPr anchor="b">
            <a:normAutofit/>
          </a:bodyPr>
          <a:lstStyle/>
          <a:p>
            <a:pPr algn="l"/>
            <a:r>
              <a:rPr lang="en-US" sz="4200">
                <a:solidFill>
                  <a:srgbClr val="FFFFFF"/>
                </a:solidFill>
              </a:rPr>
              <a:t>PII Tokenization &amp; Masking Framework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935FB06-C946-ABF1-F4C5-507D6E7EE7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dirty="0"/>
              <a:t>Security Model &amp; Benefits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A1CC516B-775B-A594-FE4E-6AFBF123782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224344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Masking → PROD</a:t>
            </a:r>
          </a:p>
          <a:p>
            <a:r>
              <a:t>Tokenization → Dev / Test / QA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948781"/>
            <a:ext cx="27432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/>
              <a:t>PROD</a:t>
            </a:r>
          </a:p>
          <a:p>
            <a:r>
              <a:rPr dirty="0"/>
              <a:t>Dynamic Masking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799185" y="3154680"/>
            <a:ext cx="1097280" cy="54864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344816" y="2937386"/>
            <a:ext cx="27432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/>
              <a:t>DEV / QA</a:t>
            </a:r>
          </a:p>
          <a:p>
            <a:r>
              <a:rPr dirty="0"/>
              <a:t>Static Tokenization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42ACE579-8470-032A-BA48-501A9650FB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776" y="4785005"/>
            <a:ext cx="6114818" cy="85351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6056111" cy="1618489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900"/>
              <a:t>Core Engine: Functions &amp; Stored Procedures</a:t>
            </a:r>
          </a:p>
        </p:txBody>
      </p:sp>
      <p:sp>
        <p:nvSpPr>
          <p:cNvPr id="26" name="Content Placeholder 2"/>
          <p:cNvSpPr>
            <a:spLocks noGrp="1"/>
          </p:cNvSpPr>
          <p:nvPr>
            <p:ph idx="1"/>
          </p:nvPr>
        </p:nvSpPr>
        <p:spPr>
          <a:xfrm>
            <a:off x="963930" y="2969469"/>
            <a:ext cx="6056111" cy="2800395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100"/>
              <a:t>A secure mapping table that stores original → token pairs</a:t>
            </a:r>
          </a:p>
          <a:p>
            <a:pPr>
              <a:lnSpc>
                <a:spcPct val="90000"/>
              </a:lnSpc>
            </a:pPr>
            <a:r>
              <a:rPr lang="en-US" sz="2100"/>
              <a:t>A format-preserving function that creates safe and realistic tokens</a:t>
            </a:r>
          </a:p>
          <a:p>
            <a:pPr>
              <a:lnSpc>
                <a:spcPct val="90000"/>
              </a:lnSpc>
            </a:pPr>
            <a:r>
              <a:rPr lang="en-US" sz="2100"/>
              <a:t>A set-based tokenization stored procedure that replaces PII in Dev/Test/QA</a:t>
            </a:r>
          </a:p>
          <a:p>
            <a:pPr>
              <a:lnSpc>
                <a:spcPct val="90000"/>
              </a:lnSpc>
            </a:pPr>
            <a:r>
              <a:rPr lang="en-US" sz="2100"/>
              <a:t>An admin-only reversal stored procedure that restores original values when required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627</Words>
  <Application>Microsoft Office PowerPoint</Application>
  <PresentationFormat>Affichage à l'écran (4:3)</PresentationFormat>
  <Paragraphs>63</Paragraphs>
  <Slides>4</Slides>
  <Notes>3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8" baseType="lpstr">
      <vt:lpstr>Aptos</vt:lpstr>
      <vt:lpstr>Arial</vt:lpstr>
      <vt:lpstr>Calibri</vt:lpstr>
      <vt:lpstr>Office Theme</vt:lpstr>
      <vt:lpstr>PII Tokenization &amp; Masking Framework</vt:lpstr>
      <vt:lpstr>Security Model &amp; Benefits</vt:lpstr>
      <vt:lpstr>Architecture Overview</vt:lpstr>
      <vt:lpstr>Core Engine: Functions &amp; Stored Procedures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serge tchuenteu</dc:creator>
  <cp:keywords/>
  <dc:description>generated using python-pptx</dc:description>
  <cp:lastModifiedBy>serge tchuenteu</cp:lastModifiedBy>
  <cp:revision>2</cp:revision>
  <dcterms:created xsi:type="dcterms:W3CDTF">2013-01-27T09:14:16Z</dcterms:created>
  <dcterms:modified xsi:type="dcterms:W3CDTF">2025-11-21T18:25:22Z</dcterms:modified>
  <cp:category/>
</cp:coreProperties>
</file>